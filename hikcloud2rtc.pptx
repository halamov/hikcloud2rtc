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72" r:id="rId23"/>
    <p:sldId id="269" r:id="rId20"/>
    <p:sldId id="270" r:id="rId21"/>
    <p:sldId id="268" r:id="rId19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6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7.xml"/><Relationship Id="rId23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920240"/>
            <a:ext cx="12191695" cy="2651760"/>
          </a:xfrm>
          <a:prstGeom prst="rect">
            <a:avLst/>
          </a:prstGeom>
          <a:solidFill>
            <a:srgbClr val="1B5E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4000" b="1">
                <a:solidFill>
                  <a:srgbClr val="FFFFFF"/>
                </a:solidFill>
              </a:defRPr>
            </a:pPr>
            <a:r>
              <a:t>Hik-Connect: видеопоток и снапшот из облака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1546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900" b="0">
                <a:solidFill>
                  <a:srgbClr val="D8E6F7"/>
                </a:solidFill>
              </a:defRPr>
            </a:pPr>
            <a:r>
              <a:t>Реверс-инжиниринг, выбор основы и готовый Docker-сервис — в проде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3949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0">
                <a:solidFill>
                  <a:srgbClr val="8FA6C8"/>
                </a:solidFill>
              </a:defRPr>
            </a:pPr>
            <a:r>
              <a:t>Портал cloud-cam-viewer • pyezvizapi • hikcloudstream • go2rtc (ezviz P2P) • hik_ws_client • EZUIKit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28016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7FB2E8"/>
                </a:solidFill>
              </a:defRPr>
            </a:pPr>
            <a:r>
              <a:t>На чём собран сервис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700" b="1">
                <a:solidFill>
                  <a:srgbClr val="FFFFFF"/>
                </a:solidFill>
              </a:defRPr>
            </a:pPr>
            <a:r>
              <a:t>Проекты-основы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051560"/>
            <a:ext cx="1463040" cy="4445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1B5EB0"/>
                </a:solidFill>
              </a:defRPr>
            </a:pPr>
            <a:r>
              <a:t>Ссылки: github.com/Bahrombekk/cloud-cam-viewer  •  github.com/cristianojmiranda/hikcloudstream  •  github.com/RenierM26/pyEzvizApi  •  github.com/halamov/hikcloud2rtc (этот проект)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74519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50" b="1">
                <a:solidFill>
                  <a:srgbClr val="1B5EB0"/>
                </a:solidFill>
              </a:defRPr>
            </a:pPr>
            <a:r>
              <a:t>Bahrombekk/cloud-cam-viewer (MIT, Python)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67127"/>
            <a:ext cx="10698480" cy="932688"/>
          </a:xfrm>
          <a:prstGeom prst="roundRect">
            <a:avLst/>
          </a:prstGeom>
          <a:solidFill>
            <a:srgbClr val="243B5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450" b="1">
                <a:solidFill>
                  <a:srgbClr val="FFFFFF"/>
                </a:solidFill>
              </a:defRPr>
            </a:pPr>
            <a:r>
              <a:t>cloud-cam-viewer</a:t>
            </a:r>
          </a:p>
          <a:p>
            <a:pPr algn="ctr">
              <a:defRPr sz="1100">
                <a:solidFill>
                  <a:srgbClr val="D5E2F2"/>
                </a:solidFill>
              </a:defRPr>
            </a:pPr>
            <a:r>
              <a:t>Движок видео — перенесён в cloudcam/decrypt_proxy: VTM-сессия, RTP/PS/TS автодетект, AES-128 по NAL (HEVC/H.264), правила сессии (featureCode, refresh)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46119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50" b="1">
                <a:solidFill>
                  <a:srgbClr val="1B5EB0"/>
                </a:solidFill>
              </a:defRPr>
            </a:pPr>
            <a:r>
              <a:t>cristianojmiranda/hikcloudstream (PyPI)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538727"/>
            <a:ext cx="10698480" cy="932688"/>
          </a:xfrm>
          <a:prstGeom prst="roundRect">
            <a:avLst/>
          </a:prstGeom>
          <a:solidFill>
            <a:srgbClr val="243B5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450" b="1">
                <a:solidFill>
                  <a:srgbClr val="FFFFFF"/>
                </a:solidFill>
              </a:defRPr>
            </a:pPr>
            <a:r>
              <a:t>hikcloudstream</a:t>
            </a:r>
          </a:p>
          <a:p>
            <a:pPr algn="ctr">
              <a:defRPr sz="1100">
                <a:solidFill>
                  <a:srgbClr val="D5E2F2"/>
                </a:solidFill>
              </a:defRPr>
            </a:pPr>
            <a:r>
              <a:t>Снапшот из облака — эндпоинт /snapshot (~352×288, ~1.7 с)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617719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50" b="1">
                <a:solidFill>
                  <a:srgbClr val="1B5EB0"/>
                </a:solidFill>
              </a:defRPr>
            </a:pPr>
            <a:r>
              <a:t>RenierM26/pyEzvizApi (Apache-2.0, PyPI)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910327"/>
            <a:ext cx="10698480" cy="932688"/>
          </a:xfrm>
          <a:prstGeom prst="roundRect">
            <a:avLst/>
          </a:prstGeom>
          <a:solidFill>
            <a:srgbClr val="243B5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450" b="1">
                <a:solidFill>
                  <a:srgbClr val="FFFFFF"/>
                </a:solidFill>
              </a:defRPr>
            </a:pPr>
            <a:r>
              <a:t>pyezvizapi</a:t>
            </a:r>
          </a:p>
          <a:p>
            <a:pPr algn="ctr">
              <a:defRPr sz="1100">
                <a:solidFill>
                  <a:srgbClr val="D5E2F2"/>
                </a:solidFill>
              </a:defRPr>
            </a:pPr>
            <a:r>
              <a:t>Протокол облака — VTM relay, login/token: базовая зависимость decrypt_proxy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9893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50" b="1">
                <a:solidFill>
                  <a:srgbClr val="142033"/>
                </a:solidFill>
              </a:defRPr>
            </a:pPr>
            <a:r>
              <a:t>Итог: гибридный стек — видео (HEVC) через движок cloud-cam-viewer, снапшот — через hikcloudstream, протокол — pyezvizapi.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28016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7FB2E8"/>
                </a:solidFill>
              </a:defRPr>
            </a:pPr>
            <a:r>
              <a:t>Цель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700" b="1">
                <a:solidFill>
                  <a:srgbClr val="FFFFFF"/>
                </a:solidFill>
              </a:defRPr>
            </a:pPr>
            <a:r>
              <a:t>Задача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051560"/>
            <a:ext cx="1463040" cy="4445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1">
                <a:solidFill>
                  <a:srgbClr val="1B5EB0"/>
                </a:solidFill>
              </a:rPr>
              <a:t>Поток: </a:t>
            </a:r>
            <a:r>
              <a:rPr sz="1900">
                <a:solidFill>
                  <a:srgbClr val="4A5568"/>
                </a:solidFill>
              </a:rPr>
              <a:t>получать живой видеопоток (H.264/HEVC) с камеры из облака Hik-Connect — без LAN, RTSP и проброса портов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1B5EB0"/>
                </a:solidFill>
              </a:rPr>
              <a:t>Снапшот: </a:t>
            </a:r>
            <a:r>
              <a:rPr sz="1900">
                <a:solidFill>
                  <a:srgbClr val="4A5568"/>
                </a:solidFill>
              </a:rPr>
              <a:t>получать статическое изображение (JPEG) из облака по запросу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1B5EB0"/>
                </a:solidFill>
              </a:rPr>
              <a:t>Транспорт: </a:t>
            </a:r>
            <a:r>
              <a:rPr sz="1900">
                <a:solidFill>
                  <a:srgbClr val="4A5568"/>
                </a:solidFill>
              </a:rPr>
              <a:t>камера за NAT, доступен только аккаунт Hik-Connect/EZVIZ (email + пароль, как в мобильном приложении)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1B5EB0"/>
                </a:solidFill>
              </a:rPr>
              <a:t>Формат вывода: </a:t>
            </a:r>
            <a:r>
              <a:rPr sz="1900">
                <a:solidFill>
                  <a:srgbClr val="4A5568"/>
                </a:solidFill>
              </a:rPr>
              <a:t>MPEG-TS / Annex B / MJPEG — для внешнего сервиса (HTTP-эндпоинт)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1B5EB0"/>
                </a:solidFill>
              </a:rPr>
              <a:t>Ограничение: </a:t>
            </a:r>
            <a:r>
              <a:rPr sz="1900">
                <a:solidFill>
                  <a:srgbClr val="4A5568"/>
                </a:solidFill>
              </a:rPr>
              <a:t>проприетарный шифрованный протокол; официальных REST-методов для стриминга у потребительского Hik-Connect нет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28016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7FB2E8"/>
                </a:solidFill>
              </a:defRPr>
            </a:pPr>
            <a:r>
              <a:t>Реверс-инжиниринг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700" b="1">
                <a:solidFill>
                  <a:srgbClr val="FFFFFF"/>
                </a:solidFill>
              </a:defRPr>
            </a:pPr>
            <a:r>
              <a:t>Протокол: что лежит под капотом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051560"/>
            <a:ext cx="1463040" cy="4445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5394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1B5EB0"/>
                </a:solidFill>
              </a:rPr>
              <a:t>REST-авторизация: </a:t>
            </a:r>
            <a:r>
              <a:rPr sz="1600">
                <a:solidFill>
                  <a:srgbClr val="4A5568"/>
                </a:solidFill>
              </a:rPr>
              <a:t>логин в облако, MD5-пароль, JWT; ключи P2P/шифрования выдаются на сессию (ротация на сервере)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1B5EB0"/>
                </a:solidFill>
              </a:rPr>
              <a:t>Контрольный бинарный протокол V3: </a:t>
            </a:r>
            <a:r>
              <a:rPr sz="1600">
                <a:solidFill>
                  <a:srgbClr val="4A5568"/>
                </a:solidFill>
              </a:rPr>
              <a:t>TLV- кадры, свой CRC-8, AES-128-CBC; извлечён из libezstreamclient.so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1B5EB0"/>
                </a:solidFill>
              </a:rPr>
              <a:t>ysproto-совместимый обмен: </a:t>
            </a:r>
            <a:r>
              <a:rPr sz="1600">
                <a:solidFill>
                  <a:srgbClr val="4A5568"/>
                </a:solidFill>
              </a:rPr>
              <a:t>те же механизмы, что в мобильном приложении EZVIZ/Hik-Connect (VTM relay, P2P hole-punch)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417320"/>
            <a:ext cx="51206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1B5EB0"/>
                </a:solidFill>
              </a:rPr>
              <a:t>Транспорт стрима: </a:t>
            </a:r>
            <a:r>
              <a:rPr sz="1600">
                <a:solidFill>
                  <a:srgbClr val="4A5568"/>
                </a:solidFill>
              </a:rPr>
              <a:t>UDP-релей (VTM) или P2P (hole-punch → SRT-диалект устройства); видео — Hik-RTP (12B) + служебная 13B-шапка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1B5EB0"/>
                </a:solidFill>
              </a:rPr>
              <a:t>Шифрование: </a:t>
            </a:r>
            <a:r>
              <a:rPr sz="1600">
                <a:solidFill>
                  <a:srgbClr val="4A5568"/>
                </a:solidFill>
              </a:rPr>
              <a:t>селективное шифрование P/B-слайсов, ключ на камеру (verification code / CAS); облачные клипы — MPEG-PS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1B5EB0"/>
                </a:solidFill>
              </a:rPr>
              <a:t>Снапшот: </a:t>
            </a:r>
            <a:r>
              <a:rPr sz="1600">
                <a:solidFill>
                  <a:srgbClr val="4A5568"/>
                </a:solidFill>
              </a:rPr>
              <a:t>отдельный API-вызов (облачный снимок ~352×288) — проще всего во всей связке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1B5EB0"/>
                </a:solidFill>
              </a:rPr>
              <a:t>Ключевая библиотека: </a:t>
            </a:r>
            <a:r>
              <a:rPr sz="1600">
                <a:solidFill>
                  <a:srgbClr val="4A5568"/>
                </a:solidFill>
              </a:rPr>
              <a:t>pyezvizapi — Python-реализация VTM-протокола, на ней стоят остальные проекты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28016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7FB2E8"/>
                </a:solidFill>
              </a:defRPr>
            </a:pPr>
            <a:r>
              <a:t>Диаграмма 1 из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700" b="1">
                <a:solidFill>
                  <a:srgbClr val="FFFFFF"/>
                </a:solidFill>
              </a:defRPr>
            </a:pPr>
            <a:r>
              <a:t>VTM: облачный релей (основной путь)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051560"/>
            <a:ext cx="1463040" cy="4445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2651760" cy="1051560"/>
          </a:xfrm>
          <a:prstGeom prst="roundRect">
            <a:avLst/>
          </a:prstGeom>
          <a:solidFill>
            <a:srgbClr val="2E6DB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Клиент (наш сервис)</a:t>
            </a:r>
          </a:p>
          <a:p>
            <a:pPr algn="ctr">
              <a:defRPr sz="1050">
                <a:solidFill>
                  <a:srgbClr val="D5E2F2"/>
                </a:solidFill>
              </a:defRPr>
            </a:pPr>
            <a:r>
              <a:t>логин, запрос стрима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0" y="1874519"/>
            <a:ext cx="2651760" cy="1051560"/>
          </a:xfrm>
          <a:prstGeom prst="roundRect">
            <a:avLst/>
          </a:prstGeom>
          <a:solidFill>
            <a:srgbClr val="243B5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Hik-Connect Cloud</a:t>
            </a:r>
          </a:p>
          <a:p>
            <a:pPr algn="ctr">
              <a:defRPr sz="1050">
                <a:solidFill>
                  <a:srgbClr val="D5E2F2"/>
                </a:solidFill>
              </a:defRPr>
            </a:pPr>
            <a:r>
              <a:t>VTM relay-сервер (UDP)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69680" y="1874519"/>
            <a:ext cx="2651760" cy="1051560"/>
          </a:xfrm>
          <a:prstGeom prst="roundRect">
            <a:avLst/>
          </a:prstGeom>
          <a:solidFill>
            <a:srgbClr val="6B76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Камера / NVR</a:t>
            </a:r>
          </a:p>
          <a:p>
            <a:pPr algn="ctr">
              <a:defRPr sz="1050">
                <a:solidFill>
                  <a:srgbClr val="D5E2F2"/>
                </a:solidFill>
              </a:defRPr>
            </a:pPr>
            <a:r>
              <a:t>за NAT, без проброса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383280" y="1965960"/>
            <a:ext cx="1280160" cy="292608"/>
          </a:xfrm>
          <a:prstGeom prst="rightArrow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Left Arrow 9"/>
          <p:cNvSpPr/>
          <p:nvPr/>
        </p:nvSpPr>
        <p:spPr>
          <a:xfrm>
            <a:off x="3383280" y="2487168"/>
            <a:ext cx="1280160" cy="292608"/>
          </a:xfrm>
          <a:prstGeom prst="leftArrow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Arrow 10"/>
          <p:cNvSpPr/>
          <p:nvPr/>
        </p:nvSpPr>
        <p:spPr>
          <a:xfrm>
            <a:off x="7498079" y="1965960"/>
            <a:ext cx="1280160" cy="292608"/>
          </a:xfrm>
          <a:prstGeom prst="rightArrow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Left Arrow 11"/>
          <p:cNvSpPr/>
          <p:nvPr/>
        </p:nvSpPr>
        <p:spPr>
          <a:xfrm>
            <a:off x="7498079" y="2487168"/>
            <a:ext cx="1280160" cy="292608"/>
          </a:xfrm>
          <a:prstGeom prst="leftArrow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46120" y="1417320"/>
            <a:ext cx="1600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050" b="1">
                <a:solidFill>
                  <a:srgbClr val="1B5EB0"/>
                </a:solidFill>
              </a:defRPr>
            </a:pPr>
            <a:r>
              <a:t>1) preview request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2816352"/>
            <a:ext cx="1600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050" b="1">
                <a:solidFill>
                  <a:srgbClr val="2E9E5B"/>
                </a:solidFill>
              </a:defRPr>
            </a:pPr>
            <a:r>
              <a:t>5) relay → поток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60920" y="1417320"/>
            <a:ext cx="1600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050" b="1">
                <a:solidFill>
                  <a:srgbClr val="1B5EB0"/>
                </a:solidFill>
              </a:defRPr>
            </a:pPr>
            <a:r>
              <a:t>3) подключение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20" y="2816352"/>
            <a:ext cx="1600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050" b="1">
                <a:solidFill>
                  <a:srgbClr val="2E9E5B"/>
                </a:solidFill>
              </a:defRPr>
            </a:pPr>
            <a:r>
              <a:t>4) шифр. видео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429000"/>
            <a:ext cx="3657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50" b="1">
                <a:solidFill>
                  <a:srgbClr val="1B5EB0"/>
                </a:solidFill>
              </a:defRPr>
            </a:pPr>
            <a:r>
              <a:t>2) getDevOperationCode</a:t>
            </a:r>
          </a:p>
          <a:p>
            <a:pPr algn="l">
              <a:spcAft>
                <a:spcPts val="0"/>
              </a:spcAft>
              <a:defRPr sz="1100" b="0">
                <a:solidFill>
                  <a:srgbClr val="4A5568"/>
                </a:solidFill>
              </a:defRPr>
            </a:pPr>
            <a:r>
              <a:t>запрос 16-байтного CAS-ключа на камеру (AES) — тот же ключ, что для снапшота и CLI cloudcam keys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3429000"/>
            <a:ext cx="3657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50" b="1">
                <a:solidFill>
                  <a:srgbClr val="1B5EB0"/>
                </a:solidFill>
              </a:defRPr>
            </a:pPr>
            <a:r>
              <a:t>Роль реляя</a:t>
            </a:r>
          </a:p>
          <a:p>
            <a:pPr algn="l">
              <a:spcAft>
                <a:spcPts val="0"/>
              </a:spcAft>
              <a:defRPr sz="1100" b="0">
                <a:solidFill>
                  <a:srgbClr val="4A5568"/>
                </a:solidFill>
              </a:defRPr>
            </a:pPr>
            <a:r>
              <a:t>сервер связывает клиента и устройство, транзитирует UDP-пакеты, не расшифровывая контент (ключ есть только у клиента и камеры)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0" y="342900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50" b="1">
                <a:solidFill>
                  <a:srgbClr val="1B5EB0"/>
                </a:solidFill>
              </a:defRPr>
            </a:pPr>
            <a:r>
              <a:t>Почему этот путь</a:t>
            </a:r>
          </a:p>
          <a:p>
            <a:pPr algn="l">
              <a:spcAft>
                <a:spcPts val="0"/>
              </a:spcAft>
              <a:defRPr sz="1100" b="0">
                <a:solidFill>
                  <a:srgbClr val="4A5568"/>
                </a:solidFill>
              </a:defRPr>
            </a:pPr>
            <a:r>
              <a:t>работает из любой точки мира без hole-punch; то же поведение, что в мобильном приложении при удалённом просмотре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7091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50" b="1">
                <a:solidFill>
                  <a:srgbClr val="142033"/>
                </a:solidFill>
              </a:defRPr>
            </a:pPr>
            <a:r>
              <a:t>Обработка на клиенте (decrypt-прокси, см. cloud-cam-viewer / pyezvizapi):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074920"/>
            <a:ext cx="2084831" cy="868680"/>
          </a:xfrm>
          <a:prstGeom prst="roundRect">
            <a:avLst/>
          </a:prstGeom>
          <a:solidFill>
            <a:srgbClr val="6B76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Hik-RTP 12B + 13B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2750311" y="5376672"/>
            <a:ext cx="113792" cy="256032"/>
          </a:xfrm>
          <a:prstGeom prst="rightArrow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2889503" y="5074920"/>
            <a:ext cx="2084831" cy="868680"/>
          </a:xfrm>
          <a:prstGeom prst="roundRect">
            <a:avLst/>
          </a:prstGeom>
          <a:solidFill>
            <a:srgbClr val="243B5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дешифр. AES-128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4999734" y="5376672"/>
            <a:ext cx="113792" cy="256032"/>
          </a:xfrm>
          <a:prstGeom prst="rightArrow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138926" y="5074920"/>
            <a:ext cx="2084831" cy="868680"/>
          </a:xfrm>
          <a:prstGeom prst="roundRect">
            <a:avLst/>
          </a:prstGeom>
          <a:solidFill>
            <a:srgbClr val="243B5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P/B-слайсы: IRAP-гейт, кэш шифр.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7249157" y="5376672"/>
            <a:ext cx="113792" cy="256032"/>
          </a:xfrm>
          <a:prstGeom prst="rightArrow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388349" y="5074920"/>
            <a:ext cx="2084831" cy="868680"/>
          </a:xfrm>
          <a:prstGeom prst="roundRect">
            <a:avLst/>
          </a:prstGeom>
          <a:solidFill>
            <a:srgbClr val="2E6DB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Annex B (H.264/HEVC)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9498580" y="5376672"/>
            <a:ext cx="113792" cy="256032"/>
          </a:xfrm>
          <a:prstGeom prst="rightArrow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637772" y="5074920"/>
            <a:ext cx="2084831" cy="868680"/>
          </a:xfrm>
          <a:prstGeom prst="roundRect">
            <a:avLst/>
          </a:prstGeom>
          <a:solidFill>
            <a:srgbClr val="2E7D4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MPEG-TS / MJPEG / HLS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12648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50" b="1">
                <a:solidFill>
                  <a:srgbClr val="2E7D4F"/>
                </a:solidFill>
              </a:defRPr>
            </a:pPr>
            <a:r>
              <a:t>Снапшот (ветка API): login → /snapshot API → JPEG ~352×288 напрямую из облака — без стрима и без декодера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28016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7FB2E8"/>
                </a:solidFill>
              </a:defRPr>
            </a:pPr>
            <a:r>
              <a:t>Диаграмма 2 из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700" b="1">
                <a:solidFill>
                  <a:srgbClr val="FFFFFF"/>
                </a:solidFill>
              </a:defRPr>
            </a:pPr>
            <a:r>
              <a:t>P2P: hole-punch с фолбэком на релей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051560"/>
            <a:ext cx="1463040" cy="4445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2651760" cy="960120"/>
          </a:xfrm>
          <a:prstGeom prst="roundRect">
            <a:avLst/>
          </a:prstGeom>
          <a:solidFill>
            <a:srgbClr val="2E6DB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Клиент (наш сервис)</a:t>
            </a:r>
          </a:p>
          <a:p>
            <a:pPr algn="ctr">
              <a:defRPr sz="1050">
                <a:solidFill>
                  <a:srgbClr val="D5E2F2"/>
                </a:solidFill>
              </a:defRPr>
            </a:pPr>
            <a:r>
              <a:t>V3-статмашина UDP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0" y="1691640"/>
            <a:ext cx="2651760" cy="960120"/>
          </a:xfrm>
          <a:prstGeom prst="roundRect">
            <a:avLst/>
          </a:prstGeom>
          <a:solidFill>
            <a:srgbClr val="243B5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Hik-Connect Cloud</a:t>
            </a:r>
          </a:p>
          <a:p>
            <a:pPr algn="ctr">
              <a:defRPr sz="1050">
                <a:solidFill>
                  <a:srgbClr val="D5E2F2"/>
                </a:solidFill>
              </a:defRPr>
            </a:pPr>
            <a:r>
              <a:t>signaling + /api/p2p/configurations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69680" y="1691640"/>
            <a:ext cx="2651760" cy="960120"/>
          </a:xfrm>
          <a:prstGeom prst="roundRect">
            <a:avLst/>
          </a:prstGeom>
          <a:solidFill>
            <a:srgbClr val="6B76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Камера / NVR</a:t>
            </a:r>
          </a:p>
          <a:p>
            <a:pPr algn="ctr">
              <a:defRPr sz="1050">
                <a:solidFill>
                  <a:srgbClr val="D5E2F2"/>
                </a:solidFill>
              </a:defRPr>
            </a:pPr>
            <a:r>
              <a:t>UDP-сокет, SRT-диалект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383280" y="1783080"/>
            <a:ext cx="1280160" cy="274320"/>
          </a:xfrm>
          <a:prstGeom prst="rightArrow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Left Arrow 9"/>
          <p:cNvSpPr/>
          <p:nvPr/>
        </p:nvSpPr>
        <p:spPr>
          <a:xfrm>
            <a:off x="3383280" y="2240280"/>
            <a:ext cx="1280160" cy="274320"/>
          </a:xfrm>
          <a:prstGeom prst="leftArrow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Arrow 10"/>
          <p:cNvSpPr/>
          <p:nvPr/>
        </p:nvSpPr>
        <p:spPr>
          <a:xfrm>
            <a:off x="7498079" y="1783080"/>
            <a:ext cx="1280160" cy="274320"/>
          </a:xfrm>
          <a:prstGeom prst="rightArrow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46120" y="1298448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1B5EB0"/>
                </a:solidFill>
              </a:defRPr>
            </a:pPr>
            <a:r>
              <a:t>1) P2P_SETUP 0x0B02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69748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50" b="1">
                <a:solidFill>
                  <a:srgbClr val="1B5EB0"/>
                </a:solidFill>
              </a:defRPr>
            </a:pPr>
            <a:r>
              <a:t>2) hole-punch 0x0C00/01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1298448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1B5EB0"/>
                </a:solidFill>
              </a:defRPr>
            </a:pPr>
            <a:r>
              <a:t>3) к устройству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1280160" y="3703320"/>
            <a:ext cx="9601200" cy="411480"/>
          </a:xfrm>
          <a:prstGeom prst="rightArrow">
            <a:avLst/>
          </a:prstGeom>
          <a:solidFill>
            <a:srgbClr val="B04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291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250" b="1">
                <a:solidFill>
                  <a:srgbClr val="B04A2E"/>
                </a:solidFill>
              </a:defRPr>
            </a:pPr>
            <a:r>
              <a:t>4) PLAY_REQUEST 0x0C02  →  прямой UDP-канал клиент ↔ устройство (облако только сигнализировало)</a:t>
            </a:r>
          </a:p>
        </p:txBody>
      </p:sp>
      <p:sp>
        <p:nvSpPr>
          <p:cNvPr id="17" name="Left Arrow 16"/>
          <p:cNvSpPr/>
          <p:nvPr/>
        </p:nvSpPr>
        <p:spPr>
          <a:xfrm>
            <a:off x="1280160" y="4343400"/>
            <a:ext cx="9601200" cy="411480"/>
          </a:xfrm>
          <a:prstGeom prst="leftArrow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8280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50" b="0">
                <a:solidFill>
                  <a:srgbClr val="4A5568"/>
                </a:solidFill>
              </a:defRPr>
            </a:pPr>
            <a:r>
              <a:t>видео: Hik-RTP → FU-реассамбл. (RFC 7798, type 49) → Annex B HEVC/H.264 + ACK по видеосубсессии (0x8060) отдельно от контрольной (0x807f)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5349240"/>
            <a:ext cx="10881360" cy="685800"/>
          </a:xfrm>
          <a:prstGeom prst="rect">
            <a:avLst/>
          </a:prstGeom>
          <a:solidFill>
            <a:srgbClr val="FBF0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544068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50" b="1">
                <a:solidFill>
                  <a:srgbClr val="B07A1E"/>
                </a:solidFill>
              </a:defRPr>
            </a:pPr>
            <a:r>
              <a:t>5) Фолбэк: если hole-punch не прошёл (симметрический NAT, firewall) — PLAY_REQUEST уходит через релей (VTM), медиа-путь остаётся тем же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144768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4A5568"/>
                </a:solidFill>
              </a:defRPr>
            </a:pPr>
            <a:r>
              <a:t>Ключи: P2PServerKey (8 ротируемых, выдаются на сессию из /api/p2p/configurations — никогда не хардкодятся) • V3: TLV + CRC-8 + AES-128-CBC • реализация: PR в go2rtc (live-проверено на 4K HEVC NVR)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28016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7FB2E8"/>
                </a:solidFill>
              </a:defRPr>
            </a:pPr>
            <a:r>
              <a:t>Фокус-проект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700" b="1">
                <a:solidFill>
                  <a:srgbClr val="FFFFFF"/>
                </a:solidFill>
              </a:defRPr>
            </a:pPr>
            <a:r>
              <a:t>Bahrombekk/cloud-cam-viewer (MIT, Python)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051560"/>
            <a:ext cx="1463040" cy="4445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50" b="1">
                <a:solidFill>
                  <a:srgbClr val="1B5EB0"/>
                </a:solidFill>
              </a:rPr>
              <a:t>Что это: </a:t>
            </a:r>
            <a:r>
              <a:rPr sz="1650">
                <a:solidFill>
                  <a:srgbClr val="4A5568"/>
                </a:solidFill>
              </a:rPr>
              <a:t>десктоп-вьювер облачных камер EZVIZ/Hik-Connect: сетка камер, GPU-декод, мультиканальные NVR; активная разработка (коммиты на окт. 2026), ~3★</a:t>
            </a:r>
          </a:p>
          <a:p>
            <a:pPr>
              <a:spcAft>
                <a:spcPts val="1000"/>
              </a:spcAft>
            </a:pPr>
            <a:r>
              <a:rPr sz="1650" b="1">
                <a:solidFill>
                  <a:srgbClr val="1B5EB0"/>
                </a:solidFill>
              </a:rPr>
              <a:t>Стек: </a:t>
            </a:r>
            <a:r>
              <a:rPr sz="1650">
                <a:solidFill>
                  <a:srgbClr val="4A5568"/>
                </a:solidFill>
              </a:rPr>
              <a:t>Python + pyezvizapi (транспорт), decrypt-прокси (RTP/HEVC и MPEG-PS), ffmpeg для вывода; CLI: cloudcam, app.py, check_code.py</a:t>
            </a:r>
          </a:p>
          <a:p>
            <a:pPr>
              <a:spcAft>
                <a:spcPts val="1000"/>
              </a:spcAft>
            </a:pPr>
            <a:r>
              <a:rPr sz="1650" b="1">
                <a:solidFill>
                  <a:srgbClr val="1B5EB0"/>
                </a:solidFill>
              </a:rPr>
              <a:t>Зрелость шифрования: </a:t>
            </a:r>
            <a:r>
              <a:rPr sz="1650">
                <a:solidFill>
                  <a:srgbClr val="4A5568"/>
                </a:solidFill>
              </a:rPr>
              <a:t>RTP seq-трекинг по (SSRC, PT), IRAP-гейт против «серого» первого кадра, кэш решения шифрования P/B, bounded PS-буферы, тесты на живых камерах</a:t>
            </a:r>
          </a:p>
          <a:p>
            <a:pPr>
              <a:spcAft>
                <a:spcPts val="1000"/>
              </a:spcAft>
            </a:pPr>
            <a:r>
              <a:rPr sz="1650" b="1">
                <a:solidFill>
                  <a:srgbClr val="1B5EB0"/>
                </a:solidFill>
              </a:rPr>
              <a:t>Обслуживание: </a:t>
            </a:r>
            <a:r>
              <a:rPr sz="1650">
                <a:solidFill>
                  <a:srgbClr val="4A5568"/>
                </a:solidFill>
              </a:rPr>
              <a:t>пер-установка featureCode, аккуратный lifecycle прокси/ffmpeg (kill -9 safe), ключ камеры не попадает в cmdline, бэкофф при неудачных логинах</a:t>
            </a:r>
          </a:p>
          <a:p>
            <a:pPr>
              <a:spcAft>
                <a:spcPts val="1000"/>
              </a:spcAft>
            </a:pPr>
            <a:r>
              <a:rPr sz="1650" b="1">
                <a:solidFill>
                  <a:srgbClr val="1B5EB0"/>
                </a:solidFill>
              </a:rPr>
              <a:t>Что лишнее для сервиса: </a:t>
            </a:r>
            <a:r>
              <a:rPr sz="1650">
                <a:solidFill>
                  <a:srgbClr val="4A5568"/>
                </a:solidFill>
              </a:rPr>
              <a:t>GUI-вьювер, мультикамерная сетка, GPU-путь, cam_keys.json — прикладной слой, который придётся отделить или отбросить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28016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7FB2E8"/>
                </a:solidFill>
              </a:defRPr>
            </a:pPr>
            <a:r>
              <a:t>Похожие проекты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700" b="1">
                <a:solidFill>
                  <a:srgbClr val="FFFFFF"/>
                </a:solidFill>
              </a:defRPr>
            </a:pPr>
            <a:r>
              <a:t>Альтернативы на GitHub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051560"/>
            <a:ext cx="1463040" cy="4445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500" b="1">
                <a:solidFill>
                  <a:srgbClr val="1B5EB0"/>
                </a:solidFill>
              </a:defRPr>
            </a:pPr>
            <a:r>
              <a:t>hikcloudstream (Apache-2.0, Python, PyPI)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64208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50" b="0">
                <a:solidFill>
                  <a:srgbClr val="4A5568"/>
                </a:solidFill>
              </a:defRPr>
            </a:pPr>
            <a:r>
              <a:t>Лёгкий SDK точно под задачу: логин, список камер, снапшот из облака, VTM-стрим → Annex B/TS/HLS/MJPEG, CLI. Построен по мотивам pyezvizapi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04288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500" b="1">
                <a:solidFill>
                  <a:srgbClr val="1B5EB0"/>
                </a:solidFill>
              </a:defRPr>
            </a:pPr>
            <a:r>
              <a:t>pyezvizapi (Apache-2.0, Python, 70★, PyPI)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96896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50" b="0">
                <a:solidFill>
                  <a:srgbClr val="4A5568"/>
                </a:solidFill>
              </a:defRPr>
            </a:pPr>
            <a:r>
              <a:t>Ядро, на котором стоят остальные: логин/токены, VTM-протокол, снапшоты, MQTT, облачные клипы с расшифровкой. Без готового «поток+снапшот» в одном 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36976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500" b="1">
                <a:solidFill>
                  <a:srgbClr val="1B5EB0"/>
                </a:solidFill>
              </a:defRPr>
            </a:pPr>
            <a:r>
              <a:t>go2rtc — PR ezviz P2P (Go, в форке, не слит)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529584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50" b="0">
                <a:solidFill>
                  <a:srgbClr val="4A5568"/>
                </a:solidFill>
              </a:defRPr>
            </a:pPr>
            <a:r>
              <a:t>Самый глубокий реверс: полный P2P-путь (V3, CRC-8, SRT), live-проверен на 4K HEVC. Мощно, но Go, UDP-статмашина, PR-непринятый — выше порог поддержки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169664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500" b="1">
                <a:solidFill>
                  <a:srgbClr val="1B5EB0"/>
                </a:solidFill>
              </a:defRPr>
            </a:pPr>
            <a:r>
              <a:t>holmesian/hik_ws_client (Python)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46227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50" b="0">
                <a:solidFill>
                  <a:srgbClr val="4A5568"/>
                </a:solidFill>
              </a:defRPr>
            </a:pPr>
            <a:r>
              <a:t>Реверс другого контура: двухуровневый WebSocket (h5player/web-proxy) для LAN/прокси-сценария. Сырой: нет декодера, ориентирован на локальную сеть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102352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500" b="1">
                <a:solidFill>
                  <a:srgbClr val="1B5EB0"/>
                </a:solidFill>
              </a:defRPr>
            </a:pPr>
            <a:r>
              <a:t>Ezviz-OpenBiz/EZUIKit-JavaScript (официальный)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39496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50" b="0">
                <a:solidFill>
                  <a:srgbClr val="4A5568"/>
                </a:solidFill>
              </a:defRPr>
            </a:pPr>
            <a:r>
              <a:t>Официальный web-плеер по ezviz:// URL + OpenAPI Hik-Connect for Teams (API keys → bearerToken). Легально чище, но требует Team-аккаунт/платный план, это UI-виджет, а не API для сервиса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28016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7FB2E8"/>
                </a:solidFill>
              </a:defRPr>
            </a:pPr>
            <a:r>
              <a:t>Матрица выбора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700" b="1">
                <a:solidFill>
                  <a:srgbClr val="FFFFFF"/>
                </a:solidFill>
              </a:defRPr>
            </a:pPr>
            <a:r>
              <a:t>Сравнение для сценария «поток + снапшот»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051560"/>
            <a:ext cx="1463040" cy="4445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8368" y="1371600"/>
          <a:ext cx="1088136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377440"/>
                <a:gridCol w="2194560"/>
                <a:gridCol w="2103120"/>
                <a:gridCol w="2103120"/>
              </a:tblGrid>
              <a:tr h="502920">
                <a:tc>
                  <a:txBody>
                    <a:bodyPr wrap="square"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Критерий</a:t>
                      </a:r>
                    </a:p>
                  </a:txBody>
                  <a:tcPr marL="73152" marR="54864" marT="27432" marB="27432" anchor="ctr">
                    <a:solidFill>
                      <a:srgbClr val="14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cloud-cam-viewer</a:t>
                      </a:r>
                    </a:p>
                  </a:txBody>
                  <a:tcPr marL="73152" marR="54864" marT="27432" marB="27432" anchor="ctr">
                    <a:solidFill>
                      <a:srgbClr val="14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hikcloudstream</a:t>
                      </a:r>
                    </a:p>
                  </a:txBody>
                  <a:tcPr marL="73152" marR="54864" marT="27432" marB="27432" anchor="ctr">
                    <a:solidFill>
                      <a:srgbClr val="14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pyezvizapi</a:t>
                      </a:r>
                    </a:p>
                  </a:txBody>
                  <a:tcPr marL="73152" marR="54864" marT="27432" marB="27432" anchor="ctr">
                    <a:solidFill>
                      <a:srgbClr val="14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go2rtc (ezviz PR)</a:t>
                      </a:r>
                    </a:p>
                  </a:txBody>
                  <a:tcPr marL="73152" marR="54864" marT="27432" marB="27432" anchor="ctr">
                    <a:solidFill>
                      <a:srgbClr val="142033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>
                        <a:defRPr sz="1150" b="1">
                          <a:solidFill>
                            <a:srgbClr val="1B5EB0"/>
                          </a:solidFill>
                        </a:defRPr>
                      </a:pPr>
                      <a:r>
                        <a:t>Язык / тип</a:t>
                      </a:r>
                    </a:p>
                  </a:txBody>
                  <a:tcPr marL="73152" marR="54864" marT="27432" marB="27432" anchor="ctr">
                    <a:solidFill>
                      <a:srgbClr val="DCE6F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50" b="0">
                          <a:solidFill>
                            <a:srgbClr val="4A5568"/>
                          </a:solidFill>
                        </a:defRPr>
                      </a:pPr>
                      <a:r>
                        <a:t>Python, GUI-приложение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50" b="0">
                          <a:solidFill>
                            <a:srgbClr val="4A5568"/>
                          </a:solidFill>
                        </a:defRPr>
                      </a:pPr>
                      <a:r>
                        <a:t>Python, библиотека+CLI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50" b="0">
                          <a:solidFill>
                            <a:srgbClr val="4A5568"/>
                          </a:solidFill>
                        </a:defRPr>
                      </a:pPr>
                      <a:r>
                        <a:t>Python, библиотека+CLI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50" b="0">
                          <a:solidFill>
                            <a:srgbClr val="4A5568"/>
                          </a:solidFill>
                        </a:defRPr>
                      </a:pPr>
                      <a:r>
                        <a:t>Go, медиа-агрегатор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>
                        <a:defRPr sz="1150" b="1">
                          <a:solidFill>
                            <a:srgbClr val="1B5EB0"/>
                          </a:solidFill>
                        </a:defRPr>
                      </a:pPr>
                      <a:r>
                        <a:t>Видеопоток из облака</a:t>
                      </a:r>
                    </a:p>
                  </a:txBody>
                  <a:tcPr marL="73152" marR="54864" marT="27432" marB="27432" anchor="ctr">
                    <a:solidFill>
                      <a:srgbClr val="DCE6F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50" b="0">
                          <a:solidFill>
                            <a:srgbClr val="4A5568"/>
                          </a:solidFill>
                        </a:defRPr>
                      </a:pPr>
                      <a:r>
                        <a:t>Да (RTP+PS, расшифровка)</a:t>
                      </a:r>
                    </a:p>
                  </a:txBody>
                  <a:tcPr marL="73152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50" b="0">
                          <a:solidFill>
                            <a:srgbClr val="4A5568"/>
                          </a:solidFill>
                        </a:defRPr>
                      </a:pPr>
                      <a:r>
                        <a:t>Да (VTM → TS/HLS/MJPEG)</a:t>
                      </a:r>
                    </a:p>
                  </a:txBody>
                  <a:tcPr marL="73152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50" b="0">
                          <a:solidFill>
                            <a:srgbClr val="4A5568"/>
                          </a:solidFill>
                        </a:defRPr>
                      </a:pPr>
                      <a:r>
                        <a:t>Да (VTM, ниже уровень)</a:t>
                      </a:r>
                    </a:p>
                  </a:txBody>
                  <a:tcPr marL="73152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50" b="0">
                          <a:solidFill>
                            <a:srgbClr val="4A5568"/>
                          </a:solidFill>
                        </a:defRPr>
                      </a:pPr>
                      <a:r>
                        <a:t>Да (P2P, live-проверен 4K)</a:t>
                      </a:r>
                    </a:p>
                  </a:txBody>
                  <a:tcPr marL="73152" marR="54864" marT="27432" marB="27432" anchor="ctr">
                    <a:solidFill>
                      <a:srgbClr val="EEF3FA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>
                        <a:defRPr sz="1150" b="1">
                          <a:solidFill>
                            <a:srgbClr val="1B5EB0"/>
                          </a:solidFill>
                        </a:defRPr>
                      </a:pPr>
                      <a:r>
                        <a:t>Снапшот из облака</a:t>
                      </a:r>
                    </a:p>
                  </a:txBody>
                  <a:tcPr marL="73152" marR="54864" marT="27432" marB="27432" anchor="ctr">
                    <a:solidFill>
                      <a:srgbClr val="DCE6F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50" b="0">
                          <a:solidFill>
                            <a:srgbClr val="4A5568"/>
                          </a:solidFill>
                        </a:defRPr>
                      </a:pPr>
                      <a:r>
                        <a:t>Косвенно (через кадр)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50" b="0">
                          <a:solidFill>
                            <a:srgbClr val="4A5568"/>
                          </a:solidFill>
                        </a:defRPr>
                      </a:pPr>
                      <a:r>
                        <a:t>Да, API-снапшот + frame.jpg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50" b="0">
                          <a:solidFill>
                            <a:srgbClr val="4A5568"/>
                          </a:solidFill>
                        </a:defRPr>
                      </a:pPr>
                      <a:r>
                        <a:t>Да (snapshot-вызовы)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50" b="0">
                          <a:solidFill>
                            <a:srgbClr val="4A5568"/>
                          </a:solidFill>
                        </a:defRPr>
                      </a:pPr>
                      <a:r>
                        <a:t>Через кадр потока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>
                        <a:defRPr sz="1150" b="1">
                          <a:solidFill>
                            <a:srgbClr val="1B5EB0"/>
                          </a:solidFill>
                        </a:defRPr>
                      </a:pPr>
                      <a:r>
                        <a:t>Готовность к сервису</a:t>
                      </a:r>
                    </a:p>
                  </a:txBody>
                  <a:tcPr marL="73152" marR="54864" marT="27432" marB="27432" anchor="ctr">
                    <a:solidFill>
                      <a:srgbClr val="DCE6F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50" b="0">
                          <a:solidFill>
                            <a:srgbClr val="4A5568"/>
                          </a:solidFill>
                        </a:defRPr>
                      </a:pPr>
                      <a:r>
                        <a:t>Снимать GUI-слой</a:t>
                      </a:r>
                    </a:p>
                  </a:txBody>
                  <a:tcPr marL="73152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50" b="0">
                          <a:solidFill>
                            <a:srgbClr val="4A5568"/>
                          </a:solidFill>
                        </a:defRPr>
                      </a:pPr>
                      <a:r>
                        <a:t>Выше всего (SDK под задачу)</a:t>
                      </a:r>
                    </a:p>
                  </a:txBody>
                  <a:tcPr marL="73152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50" b="0">
                          <a:solidFill>
                            <a:srgbClr val="4A5568"/>
                          </a:solidFill>
                        </a:defRPr>
                      </a:pPr>
                      <a:r>
                        <a:t>Собирать из блоков</a:t>
                      </a:r>
                    </a:p>
                  </a:txBody>
                  <a:tcPr marL="73152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50" b="0">
                          <a:solidFill>
                            <a:srgbClr val="4A5568"/>
                          </a:solidFill>
                        </a:defRPr>
                      </a:pPr>
                      <a:r>
                        <a:t>Высокая цена поддержки</a:t>
                      </a:r>
                    </a:p>
                  </a:txBody>
                  <a:tcPr marL="73152" marR="54864" marT="27432" marB="27432" anchor="ctr">
                    <a:solidFill>
                      <a:srgbClr val="EEF3FA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>
                        <a:defRPr sz="1150" b="1">
                          <a:solidFill>
                            <a:srgbClr val="1B5EB0"/>
                          </a:solidFill>
                        </a:defRPr>
                      </a:pPr>
                      <a:r>
                        <a:t>Активность/зрелость</a:t>
                      </a:r>
                    </a:p>
                  </a:txBody>
                  <a:tcPr marL="73152" marR="54864" marT="27432" marB="27432" anchor="ctr">
                    <a:solidFill>
                      <a:srgbClr val="DCE6F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50" b="0">
                          <a:solidFill>
                            <a:srgbClr val="4A5568"/>
                          </a:solidFill>
                        </a:defRPr>
                      </a:pPr>
                      <a:r>
                        <a:t>Активен, свежие коммиты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50" b="0">
                          <a:solidFill>
                            <a:srgbClr val="4A5568"/>
                          </a:solidFill>
                        </a:defRPr>
                      </a:pPr>
                      <a:r>
                        <a:t>Молодой (0★, 4 релиза)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50" b="0">
                          <a:solidFill>
                            <a:srgbClr val="4A5568"/>
                          </a:solidFill>
                        </a:defRPr>
                      </a:pPr>
                      <a:r>
                        <a:t>Зрелый, 755 коммитов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50" b="0">
                          <a:solidFill>
                            <a:srgbClr val="4A5568"/>
                          </a:solidFill>
                        </a:defRPr>
                      </a:pPr>
                      <a:r>
                        <a:t>Принятость не гарантирована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7FB2E8"/>
                </a:solidFill>
              </a:defRPr>
            </a:pPr>
            <a:r>
              <a:t>Рекомендация → подтверждена в проде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84048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700" b="1">
                <a:solidFill>
                  <a:srgbClr val="FFFFFF"/>
                </a:solidFill>
              </a:defRPr>
            </a:pPr>
            <a:r>
              <a:t>Вывод: на чём строить сервис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051560"/>
            <a:ext cx="1463040" cy="4445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371600"/>
            <a:ext cx="10881360" cy="1371600"/>
          </a:xfrm>
          <a:prstGeom prst="rect">
            <a:avLst/>
          </a:prstGeom>
          <a:solidFill>
            <a:srgbClr val="E8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08760"/>
            <a:ext cx="10424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100" b="1">
                <a:solidFill>
                  <a:srgbClr val="2E9E5B"/>
                </a:solidFill>
              </a:defRPr>
            </a:pPr>
            <a:r>
              <a:t>Гибрид подтверждён в проде: видео — decrypt_proxy (cloud-cam-viewer), снапшот — hikcloudstream</a:t>
            </a:r>
          </a:p>
          <a:p>
            <a:pPr algn="l">
              <a:spcAft>
                <a:spcPts val="0"/>
              </a:spcAft>
              <a:defRPr sz="1450" b="0">
                <a:solidFill>
                  <a:srgbClr val="4A5568"/>
                </a:solidFill>
              </a:defRPr>
            </a:pPr>
            <a:r>
              <a:t>NVR шлёт HEVC, а hikcloudstream понимает только H.264 (0 байт на cam8) — видео-движок взял из cloud-cam-viewer; лёгкий облачный API снапшотов — из hikcloudstream.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1752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50" b="1">
                <a:solidFill>
                  <a:srgbClr val="1B5EB0"/>
                </a:solidFill>
              </a:rPr>
              <a:t>Почему так, а не «всё на hikcloudstream»: </a:t>
            </a:r>
            <a:r>
              <a:rPr sz="1550">
                <a:solidFill>
                  <a:srgbClr val="4A5568"/>
                </a:solidFill>
              </a:rPr>
              <a:t>первый вариант (только hikcloudstream) молча давал 0 байт — NVR J88212190 шлёт H.265 (NAL ≥ 0x40); decrypt_proxy берёт HEVC и H.264, RTP/PS/TS автодетект, AES-128 по NAL</a:t>
            </a:r>
          </a:p>
          <a:p>
            <a:pPr>
              <a:spcAft>
                <a:spcPts val="1000"/>
              </a:spcAft>
            </a:pPr>
            <a:r>
              <a:rPr sz="1550" b="1">
                <a:solidFill>
                  <a:srgbClr val="1B5EB0"/>
                </a:solidFill>
              </a:rPr>
              <a:t>Снапшот: </a:t>
            </a:r>
            <a:r>
              <a:rPr sz="1550">
                <a:solidFill>
                  <a:srgbClr val="4A5568"/>
                </a:solidFill>
              </a:rPr>
              <a:t>cloud-снапшот hikcloudstream (~352×288, ~1.7 с) + эндпоинт /frame — реальный FullHD-кадр из main-потока</a:t>
            </a:r>
          </a:p>
          <a:p>
            <a:pPr>
              <a:spcAft>
                <a:spcPts val="1000"/>
              </a:spcAft>
            </a:pPr>
            <a:r>
              <a:rPr sz="1550" b="1">
                <a:solidFill>
                  <a:srgbClr val="1B5EB0"/>
                </a:solidFill>
              </a:rPr>
              <a:t>go2rtc: </a:t>
            </a:r>
            <a:r>
              <a:rPr sz="1550">
                <a:solidFill>
                  <a:srgbClr val="4A5568"/>
                </a:solidFill>
              </a:rPr>
              <a:t>из стека убран (работает и без него, поток — MPEG-TS по HTTP); остаётся опциональным отдельным контейнером для RTSP/HLS/WebRTC</a:t>
            </a:r>
          </a:p>
          <a:p>
            <a:pPr>
              <a:spcAft>
                <a:spcPts val="1000"/>
              </a:spcAft>
            </a:pPr>
            <a:r>
              <a:rPr sz="1550" b="1">
                <a:solidFill>
                  <a:srgbClr val="1B5EB0"/>
                </a:solidFill>
              </a:rPr>
              <a:t>Итог: </a:t>
            </a:r>
            <a:r>
              <a:rPr sz="1550">
                <a:solidFill>
                  <a:srgbClr val="4A5568"/>
                </a:solidFill>
              </a:rPr>
              <a:t>один Docker-контейнер (python 3.12 + ffmpeg), volume с токенами, HTTP-эндпоинты — задеплоено и работает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28016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7FB2E8"/>
                </a:solidFill>
              </a:defRPr>
            </a:pPr>
            <a:r>
              <a:t>Архитектура сервиса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700" b="1">
                <a:solidFill>
                  <a:srgbClr val="FFFFFF"/>
                </a:solidFill>
              </a:defRPr>
            </a:pPr>
            <a:r>
              <a:t>Финальная архитектура: один контейнер, HTTP-эндпоинты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051560"/>
            <a:ext cx="1463040" cy="4445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3108960" cy="914400"/>
          </a:xfrm>
          <a:prstGeom prst="roundRect">
            <a:avLst/>
          </a:prstGeom>
          <a:solidFill>
            <a:srgbClr val="6B76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NVR J88212190 (16 ch)</a:t>
            </a:r>
          </a:p>
          <a:p>
            <a:pPr algn="ctr">
              <a:defRPr sz="1050">
                <a:solidFill>
                  <a:srgbClr val="D5E2F2"/>
                </a:solidFill>
              </a:defRPr>
            </a:pPr>
            <a:r>
              <a:t>облако Hik-Connect, за NAT, HEVC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1325880"/>
            <a:ext cx="3108960" cy="914400"/>
          </a:xfrm>
          <a:prstGeom prst="roundRect">
            <a:avLst/>
          </a:prstGeom>
          <a:solidFill>
            <a:srgbClr val="2E6DB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hikcloud2rtc (1 контейнер)</a:t>
            </a:r>
          </a:p>
          <a:p>
            <a:pPr algn="ctr">
              <a:defRPr sz="1050">
                <a:solidFill>
                  <a:srgbClr val="D5E2F2"/>
                </a:solidFill>
              </a:defRPr>
            </a:pPr>
            <a:r>
              <a:t>python 3.12 + ffmpeg: логин, воркеры расшифровки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03920" y="1325880"/>
            <a:ext cx="3108960" cy="914400"/>
          </a:xfrm>
          <a:prstGeom prst="roundRect">
            <a:avLst/>
          </a:prstGeom>
          <a:solidFill>
            <a:srgbClr val="2E7D4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Клиент: VLC / ffplay</a:t>
            </a:r>
          </a:p>
          <a:p>
            <a:pPr algn="ctr">
              <a:defRPr sz="1050">
                <a:solidFill>
                  <a:srgbClr val="D5E2F2"/>
                </a:solidFill>
              </a:defRPr>
            </a:pPr>
            <a:r>
              <a:t>MPEG-TS (HEVC) по HTTP — как обычный URL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794760" y="1627632"/>
            <a:ext cx="731520" cy="292608"/>
          </a:xfrm>
          <a:prstGeom prst="rightArrow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ight Arrow 9"/>
          <p:cNvSpPr/>
          <p:nvPr/>
        </p:nvSpPr>
        <p:spPr>
          <a:xfrm>
            <a:off x="7726679" y="1627632"/>
            <a:ext cx="731520" cy="292608"/>
          </a:xfrm>
          <a:prstGeom prst="rightArrow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48716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50" b="1">
                <a:solidFill>
                  <a:srgbClr val="142033"/>
                </a:solidFill>
              </a:defRPr>
            </a:pPr>
            <a:r>
              <a:t>Внутри сервиса: VTM-пакет → готовый MPEG-TS на HTTP; канал — воркер с фоновой VTM-сессией (кольцо от keyframe)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852928"/>
            <a:ext cx="2084831" cy="841248"/>
          </a:xfrm>
          <a:prstGeom prst="roundRect">
            <a:avLst/>
          </a:prstGeom>
          <a:solidFill>
            <a:srgbClr val="6B76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VTM relay (UDP)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750311" y="3145536"/>
            <a:ext cx="113792" cy="256032"/>
          </a:xfrm>
          <a:prstGeom prst="rightArrow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889503" y="2852928"/>
            <a:ext cx="2084831" cy="841248"/>
          </a:xfrm>
          <a:prstGeom prst="roundRect">
            <a:avLst/>
          </a:prstGeom>
          <a:solidFill>
            <a:srgbClr val="243B5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decrypt-воркер (на канал)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999734" y="3145536"/>
            <a:ext cx="113792" cy="256032"/>
          </a:xfrm>
          <a:prstGeom prst="rightArrow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138926" y="2852928"/>
            <a:ext cx="2084831" cy="841248"/>
          </a:xfrm>
          <a:prstGeom prst="roundRect">
            <a:avLst/>
          </a:prstGeom>
          <a:solidFill>
            <a:srgbClr val="2E6DB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Annex B HEVC/H.264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249157" y="3145536"/>
            <a:ext cx="113792" cy="256032"/>
          </a:xfrm>
          <a:prstGeom prst="rightArrow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388349" y="2852928"/>
            <a:ext cx="2084831" cy="841248"/>
          </a:xfrm>
          <a:prstGeom prst="roundRect">
            <a:avLst/>
          </a:prstGeom>
          <a:solidFill>
            <a:srgbClr val="2E6DB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ffmpeg -c copy → MPEG-TS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9498580" y="3145536"/>
            <a:ext cx="113792" cy="256032"/>
          </a:xfrm>
          <a:prstGeom prst="rightArrow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637772" y="2852928"/>
            <a:ext cx="2084831" cy="841248"/>
          </a:xfrm>
          <a:prstGeom prst="roundRect">
            <a:avLst/>
          </a:prstGeom>
          <a:solidFill>
            <a:srgbClr val="2E7D4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GET /stream.ts :8000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749039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50" b="0">
                <a:solidFill>
                  <a:srgbClr val="4A5568"/>
                </a:solidFill>
              </a:defRPr>
            </a:pPr>
            <a:r>
              <a:t>decrypt-воркер = decrypt_proxy из cloud-cam-viewer: AES-128 по NAL, RTP/PS/TS автодетект, HEVC. Фоновая сессия [[_StreamSession]]: reader-тред держит поток открытым, новый запрос берёт снимок кольца (GOP-хвост с keyframe) → /frame стал «тёплым»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224528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HTTP API (:8000):  поток, снапшот, FullHD-кадр, диагностика и логи — всё по одному URL-хосту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590288"/>
            <a:ext cx="2606040" cy="777240"/>
          </a:xfrm>
          <a:prstGeom prst="roundRect">
            <a:avLst/>
          </a:prstGeom>
          <a:solidFill>
            <a:srgbClr val="243B5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GET /stream.ts?channel=N</a:t>
            </a:r>
          </a:p>
          <a:p>
            <a:pPr algn="ctr">
              <a:defRPr sz="950">
                <a:solidFill>
                  <a:srgbClr val="D5E2F2"/>
                </a:solidFill>
              </a:defRPr>
            </a:pPr>
            <a:r>
              <a:t>MPEG-TS HEVC: stream=sub 640×360 / stream=main 1080p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38144" y="4590288"/>
            <a:ext cx="2606040" cy="777240"/>
          </a:xfrm>
          <a:prstGeom prst="roundRect">
            <a:avLst/>
          </a:prstGeom>
          <a:solidFill>
            <a:srgbClr val="243B5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GET /snapshot?channel=N</a:t>
            </a:r>
          </a:p>
          <a:p>
            <a:pPr algn="ctr">
              <a:defRPr sz="950">
                <a:solidFill>
                  <a:srgbClr val="D5E2F2"/>
                </a:solidFill>
              </a:defRPr>
            </a:pPr>
            <a:r>
              <a:t>JPEG из облака ~352×288, ~1.7 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6208" y="4590288"/>
            <a:ext cx="2606040" cy="777240"/>
          </a:xfrm>
          <a:prstGeom prst="roundRect">
            <a:avLst/>
          </a:prstGeom>
          <a:solidFill>
            <a:srgbClr val="2E7D4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GET /frame?channel=N&amp;stream=main | FullHD JPEG 1920×1080, тёплый: ~4 с (pace=1) / ~0.5 с (pace=0)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34272" y="4590288"/>
            <a:ext cx="2606040" cy="777240"/>
          </a:xfrm>
          <a:prstGeom prst="roundRect">
            <a:avLst/>
          </a:prstGeom>
          <a:solidFill>
            <a:srgbClr val="2E7D4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GET /cameras /health</a:t>
            </a:r>
          </a:p>
          <a:p>
            <a:pPr algn="ctr">
              <a:defRPr sz="950">
                <a:solidFill>
                  <a:srgbClr val="D5E2F2"/>
                </a:solidFill>
              </a:defRPr>
            </a:pPr>
            <a:r>
              <a:t>список камер, статус и сессия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5623560"/>
            <a:ext cx="10881360" cy="685800"/>
          </a:xfrm>
          <a:prstGeom prst="rect">
            <a:avLst/>
          </a:prstGeom>
          <a:solidFill>
            <a:srgbClr val="E8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571500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50" b="1">
                <a:solidFill>
                  <a:srgbClr val="2E7D4F"/>
                </a:solidFill>
              </a:defRPr>
            </a:pPr>
            <a:r>
              <a:t>WORKER_MODE: always (по умолчанию) — воркеры 24/7, любой запрос тёплый; idle — воркер убивается через WORKER_IDLE_TIMEOUT (90 с) без клиентов, триггер звонка греет его GET /prime?channel=N. Проверено на cam8: HEVC sub 640×360 / main 1920×1080, 25 fps; /frame FullHD ~507 КБ тёплый ~4 с; багтест 15.10: 55 запросов 0 сбоев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28016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7FB2E8"/>
                </a:solidFill>
              </a:defRPr>
            </a:pPr>
            <a:r>
              <a:t>Проверка в проде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700" b="1">
                <a:solidFill>
                  <a:srgbClr val="FFFFFF"/>
                </a:solidFill>
              </a:defRPr>
            </a:pPr>
            <a:r>
              <a:t>Живой кадр с cam8 (реальный вывод сервиса)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051560"/>
            <a:ext cx="1463040" cy="4445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6675120" cy="4224528"/>
          </a:xfrm>
          <a:prstGeom prst="roundRect">
            <a:avLst>
              <a:gd name="adj" fmla="val 3000"/>
            </a:avLst>
          </a:prstGeom>
          <a:solidFill>
            <a:srgbClr val="0D1522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000" b="1">
                <a:solidFill>
                  <a:srgbClr val="FFFFFF"/>
                </a:solidFill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777240" y="5257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250" b="1">
                <a:solidFill>
                  <a:srgbClr val="FFFFFF"/>
                </a:solidFill>
              </a:defRPr>
            </a:pPr>
            <a:r>
              <a:t>GET /frame?channel=8&amp;stream=main  •  HEVC 1920×1080 (FullHD) из main-потока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43800" y="1417320"/>
            <a:ext cx="4023360" cy="2514600"/>
          </a:xfrm>
          <a:prstGeom prst="roundRect">
            <a:avLst>
              <a:gd name="adj" fmla="val 3000"/>
            </a:avLst>
          </a:prstGeom>
          <a:solidFill>
            <a:srgbClr val="0D1522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000" b="1">
                <a:solidFill>
                  <a:srgbClr val="FFFFFF"/>
                </a:solidFill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7543800" y="3602736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050" b="1">
                <a:solidFill>
                  <a:srgbClr val="FFFFFF"/>
                </a:solidFill>
              </a:defRPr>
            </a:pPr>
            <a:r>
              <a:t>GET /snapshot?channel=8  •  JPEG 352×288 (из облака)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43800" y="4114800"/>
            <a:ext cx="4114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150" b="1">
                <a:solidFill>
                  <a:srgbClr val="1B5EB0"/>
                </a:solidFill>
              </a:rPr>
              <a:t>Кадр слева — </a:t>
            </a:r>
            <a:r>
              <a:rPr sz="1150">
                <a:solidFill>
                  <a:srgbClr val="4A5568"/>
                </a:solidFill>
              </a:rPr>
              <a:t>/frame: FullHD-кадр из main-потока</a:t>
            </a:r>
          </a:p>
          <a:p>
            <a:pPr>
              <a:spcAft>
                <a:spcPts val="1000"/>
              </a:spcAft>
            </a:pPr>
            <a:r>
              <a:rPr sz="1150" b="1">
                <a:solidFill>
                  <a:srgbClr val="1B5EB0"/>
                </a:solidFill>
              </a:rPr>
              <a:t>Справа — </a:t>
            </a:r>
            <a:r>
              <a:rPr sz="1150">
                <a:solidFill>
                  <a:srgbClr val="4A5568"/>
                </a:solidFill>
              </a:rPr>
              <a:t>снапшот из облака (ветка API)</a:t>
            </a:r>
          </a:p>
          <a:p>
            <a:pPr>
              <a:spcAft>
                <a:spcPts val="1000"/>
              </a:spcAft>
            </a:pPr>
            <a:r>
              <a:rPr sz="1150" b="1">
                <a:solidFill>
                  <a:srgbClr val="1B5EB0"/>
                </a:solidFill>
              </a:rPr>
              <a:t>sub 640×360 / main 1920×1080, </a:t>
            </a:r>
            <a:r>
              <a:rPr sz="1150">
                <a:solidFill>
                  <a:srgbClr val="4A5568"/>
                </a:solidFill>
              </a:rPr>
              <a:t>25 fps, HEVC</a:t>
            </a:r>
          </a:p>
          <a:p>
            <a:pPr>
              <a:spcAft>
                <a:spcPts val="1000"/>
              </a:spcAft>
            </a:pPr>
            <a:r>
              <a:rPr sz="1150" b="1">
                <a:solidFill>
                  <a:srgbClr val="1B5EB0"/>
                </a:solidFill>
              </a:rPr>
              <a:t>Снапшот </a:t>
            </a:r>
            <a:r>
              <a:rPr sz="1150">
                <a:solidFill>
                  <a:srgbClr val="4A5568"/>
                </a:solidFill>
              </a:rPr>
              <a:t>~30 КБ за ~1.7 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98932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2E7D4F"/>
                </a:solidFill>
              </a:defRPr>
            </a:pPr>
            <a:r>
              <a:t>Кадр реальный, без артефактов: вся связка VTM → расшифровка → MPEG-TS → HTTP работает. Задержка оптимизирована: первый байт потока 5.3 с → 0.6 с (read1 + -probesize/-analyzeduration у ffmpeg)</a:t>
            </a:r>
          </a:p>
        </p:txBody>
      </p:sp>
      <p:pic>
        <p:nvPicPr>
          <p:cNvPr id="14" name="Picture 13" descr="fresh_fram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554480"/>
            <a:ext cx="6400800" cy="3602736"/>
          </a:xfrm>
          <a:prstGeom prst="rect">
            <a:avLst/>
          </a:prstGeom>
        </p:spPr>
      </p:pic>
      <p:pic>
        <p:nvPicPr>
          <p:cNvPr id="15" name="Picture 14" descr="fresh_snap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2440" y="1554480"/>
            <a:ext cx="29260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4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28016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7FB2E8"/>
                </a:solidFill>
              </a:rPr>
              <a:t>Проверка в проде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</a:rPr>
              <a:t>Сетка всех камер одним кадром: /preview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051560"/>
            <a:ext cx="1463040" cy="4572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6675120" cy="5120640"/>
          </a:xfrm>
          <a:prstGeom prst="roundRect">
            <a:avLst>
              <a:gd name="adj" fmla="val 3000"/>
            </a:avLst>
          </a:prstGeom>
          <a:solidFill>
            <a:srgbClr val="0D1522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review_pro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144" y="1435608"/>
            <a:ext cx="5650992" cy="490118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543800" y="1463040"/>
            <a:ext cx="400507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</a:rPr>
              <a:t>GET /preview?cell=320&amp;workers=8&amp;quality=88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43800" y="1965960"/>
            <a:ext cx="4005072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150" b="1">
                <a:solidFill>
                  <a:srgbClr val="1B5EB0"/>
                </a:solidFill>
              </a:rPr>
              <a:t>Авто-раскладка</a:t>
            </a:r>
            <a:r>
              <a:rPr sz="1150" b="0">
                <a:solidFill>
                  <a:srgbClr val="4A5568"/>
                </a:solidFill>
              </a:rPr>
              <a:t> под число камер: 16 → 4×4, 12 → 4×3, 10 → 5×2, 8 → 4×2 — равномерная, без «хвоста» из одиночных ячеек</a:t>
            </a:r>
          </a:p>
          <a:p>
            <a:pPr algn="l">
              <a:spcAft>
                <a:spcPts val="1000"/>
              </a:spcAft>
            </a:pPr>
            <a:r>
              <a:rPr sz="1150" b="1">
                <a:solidFill>
                  <a:srgbClr val="1B5EB0"/>
                </a:solidFill>
              </a:rPr>
              <a:t>NO SIGNAL</a:t>
            </a:r>
            <a:r>
              <a:rPr sz="1150" b="0">
                <a:solidFill>
                  <a:srgbClr val="4A5568"/>
                </a:solidFill>
              </a:rPr>
              <a:t> вместо недоступных: оффлайн-камеры не выкидываются — видно, какие каналы молчат, на фоне живых кадров</a:t>
            </a:r>
          </a:p>
          <a:p>
            <a:pPr algn="l">
              <a:spcAft>
                <a:spcPts val="1000"/>
              </a:spcAft>
            </a:pPr>
            <a:r>
              <a:rPr sz="1150" b="1">
                <a:solidFill>
                  <a:srgbClr val="1B5EB0"/>
                </a:solidFill>
              </a:rPr>
              <a:t>Шапка и подписи</a:t>
            </a:r>
            <a:r>
              <a:rPr sz="1150" b="0">
                <a:solidFill>
                  <a:srgbClr val="4A5568"/>
                </a:solidFill>
              </a:rPr>
              <a:t> — название NVR, время снимка, «онлайн N/M»; под ячейкой CH N + имя камеры (длинные — с многоточием)</a:t>
            </a:r>
          </a:p>
          <a:p>
            <a:pPr algn="l">
              <a:spcAft>
                <a:spcPts val="600"/>
              </a:spcAft>
            </a:pPr>
            <a:r>
              <a:rPr sz="1150" b="1">
                <a:solidFill>
                  <a:srgbClr val="1B5EB0"/>
                </a:solidFill>
              </a:rPr>
              <a:t>Время ответа</a:t>
            </a:r>
            <a:r>
              <a:rPr sz="1150" b="0">
                <a:solidFill>
                  <a:srgbClr val="4A5568"/>
                </a:solidFill>
              </a:rPr>
              <a:t> складывается из времени получения снапшотов (рендер сетки &lt;0,1 с): снапшоты снимаются параллельно, время = самый медленный</a:t>
            </a:r>
          </a:p>
          <a:p>
            <a:pPr algn="l">
              <a:spcAft>
                <a:spcPts val="1000"/>
              </a:spcAft>
            </a:pPr>
            <a:r>
              <a:rPr sz="1150" b="1">
                <a:solidFill>
                  <a:srgbClr val="1B5EB0"/>
                </a:solidFill>
              </a:rPr>
              <a:t>онлайн-камера ~1,5 с</a:t>
            </a:r>
            <a:r>
              <a:rPr sz="1150" b="0">
                <a:solidFill>
                  <a:srgbClr val="4A5568"/>
                </a:solidFill>
              </a:rPr>
              <a:t>; </a:t>
            </a:r>
            <a:r>
              <a:rPr sz="1150" b="1">
                <a:solidFill>
                  <a:srgbClr val="1B5EB0"/>
                </a:solidFill>
              </a:rPr>
              <a:t>оффлайн ~20 с</a:t>
            </a:r>
            <a:r>
              <a:rPr sz="1150" b="0">
                <a:solidFill>
                  <a:srgbClr val="4A5568"/>
                </a:solidFill>
              </a:rPr>
              <a:t> (облако отвечает 502 только после долгого ожидания) → 16 камер: </a:t>
            </a:r>
            <a:r>
              <a:rPr sz="1150" b="1">
                <a:solidFill>
                  <a:srgbClr val="1B5EB0"/>
                </a:solidFill>
              </a:rPr>
              <a:t>~24 с</a:t>
            </a:r>
          </a:p>
          <a:p>
            <a:pPr algn="l"/>
            <a:r>
              <a:rPr sz="1150" b="1">
                <a:solidFill>
                  <a:srgbClr val="1B5EB0"/>
                </a:solidFill>
              </a:rPr>
              <a:t>Доступно из браузера</a:t>
            </a:r>
            <a:r>
              <a:rPr sz="1150" b="0">
                <a:solidFill>
                  <a:srgbClr val="4A5568"/>
                </a:solidFill>
              </a:rPr>
              <a:t>: &lt;img src="http://&lt;host&gt;:8000/preview"&gt; — дашборд стенда одной ссылкой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53796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E7D4F"/>
                </a:solidFill>
              </a:rPr>
              <a:t>Реальный вывод из прода: 10 онлайн + 6 NO SIGNAL  •  JPEG ~350 КБ  •  commit 8a8fc28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28016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7FB2E8"/>
                </a:solidFill>
              </a:defRPr>
            </a:pPr>
            <a:r>
              <a:t>Замеры • cam8 • 15.10.2026 • после фонового VTM-воркера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700" b="1">
                <a:solidFill>
                  <a:srgbClr val="FFFFFF"/>
                </a:solidFill>
              </a:defRPr>
            </a:pPr>
            <a:r>
              <a:t>Задержки на cam8: что выбрать на практике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051560"/>
            <a:ext cx="1463040" cy="4445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325880"/>
          <a:ext cx="1092708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737360"/>
                <a:gridCol w="1554480"/>
                <a:gridCol w="1371600"/>
                <a:gridCol w="1554480"/>
                <a:gridCol w="3154680"/>
              </a:tblGrid>
              <a:tr h="57150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</a:rPr>
                        <a:t>Тип</a:t>
                      </a:r>
                    </a:p>
                  </a:txBody>
                  <a:tcPr marL="73152" marR="54864" marT="27432" marB="27432" anchor="ctr">
                    <a:solidFill>
                      <a:srgbClr val="1B2A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</a:rPr>
                        <a:t>Эндпоинт</a:t>
                      </a:r>
                    </a:p>
                  </a:txBody>
                  <a:tcPr marL="73152" marR="54864" marT="27432" marB="27432" anchor="ctr">
                    <a:solidFill>
                      <a:srgbClr val="1B2A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</a:rPr>
                        <a:t>Отставание кадра</a:t>
                      </a:r>
                    </a:p>
                  </a:txBody>
                  <a:tcPr marL="73152" marR="54864" marT="27432" marB="27432" anchor="ctr">
                    <a:solidFill>
                      <a:srgbClr val="1B2A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</a:rPr>
                        <a:t>Диапазон</a:t>
                      </a:r>
                    </a:p>
                  </a:txBody>
                  <a:tcPr marL="73152" marR="54864" marT="27432" marB="27432" anchor="ctr">
                    <a:solidFill>
                      <a:srgbClr val="1B2A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</a:rPr>
                        <a:t>Время ответа</a:t>
                      </a:r>
                    </a:p>
                  </a:txBody>
                  <a:tcPr marL="73152" marR="54864" marT="27432" marB="27432" anchor="ctr">
                    <a:solidFill>
                      <a:srgbClr val="1B2A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</a:rPr>
                        <a:t>Когда брать</a:t>
                      </a:r>
                    </a:p>
                  </a:txBody>
                  <a:tcPr marL="73152" marR="54864" marT="27432" marB="27432" anchor="ctr">
                    <a:solidFill>
                      <a:srgbClr val="1B2A45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D3748"/>
                          </a:solidFill>
                        </a:rPr>
                        <a:t>Снапшот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D3748"/>
                          </a:solidFill>
                        </a:rPr>
                        <a:t>GET /snapshot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D3748"/>
                          </a:solidFill>
                        </a:rPr>
                        <a:t>0–1 с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D3748"/>
                          </a:solidFill>
                        </a:rPr>
                        <a:t>−1 … +1 с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D3748"/>
                          </a:solidFill>
                        </a:rPr>
                        <a:t>1.3–2.2 с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D3748"/>
                          </a:solidFill>
                        </a:rPr>
                        <a:t>«что происходит прямо сейчас», низкое разрешение 352×288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D3748"/>
                          </a:solidFill>
                        </a:rPr>
                        <a:t>Фрейм FullHD</a:t>
                      </a:r>
                    </a:p>
                  </a:txBody>
                  <a:tcPr marL="73152" marR="54864" marT="27432" marB="27432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D3748"/>
                          </a:solidFill>
                        </a:rPr>
                        <a:t>GET /frame</a:t>
                      </a:r>
                    </a:p>
                  </a:txBody>
                  <a:tcPr marL="73152" marR="54864" marT="27432" marB="27432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D3748"/>
                          </a:solidFill>
                        </a:rPr>
                        <a:t>0–3 с</a:t>
                      </a:r>
                    </a:p>
                  </a:txBody>
                  <a:tcPr marL="73152" marR="54864" marT="27432" marB="27432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D3748"/>
                          </a:solidFill>
                        </a:rPr>
                        <a:t>−3 … 0 с</a:t>
                      </a:r>
                    </a:p>
                  </a:txBody>
                  <a:tcPr marL="73152" marR="54864" marT="27432" marB="27432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D3748"/>
                          </a:solidFill>
                        </a:rPr>
                        <a:t>3.9–4.1 с (pace=1) / 0.1–1.7 с (pace=0)</a:t>
                      </a:r>
                    </a:p>
                  </a:txBody>
                  <a:tcPr marL="73152" marR="54864" marT="27432" marB="27432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D3748"/>
                          </a:solidFill>
                        </a:rPr>
                        <a:t>FullHD 1080p без артефактов, тёплый</a:t>
                      </a:r>
                    </a:p>
                  </a:txBody>
                  <a:tcPr marL="73152" marR="54864" marT="27432" marB="27432" anchor="ctr">
                    <a:solidFill>
                      <a:srgbClr val="F2F6FB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D3748"/>
                          </a:solidFill>
                        </a:rPr>
                        <a:t>Поток (live)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D3748"/>
                          </a:solidFill>
                        </a:rPr>
                        <a:t>GET /stream.ts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D3748"/>
                          </a:solidFill>
                        </a:rPr>
                        <a:t>≈ 4 с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D3748"/>
                          </a:solidFill>
                        </a:rPr>
                        <a:t>3,4–4,3 с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D3748"/>
                          </a:solidFill>
                        </a:rPr>
                        <a:t>0.1–2.7 с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D3748"/>
                          </a:solidFill>
                        </a:rPr>
                        <a:t>просмотр в VLC/ffplay; стабильные 4 с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3794760"/>
            <a:ext cx="10927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B5EB0"/>
                </a:solidFill>
              </a:rPr>
              <a:t>Примечание для практического использования: </a:t>
            </a:r>
            <a:r>
              <a:rPr sz="1400" b="0">
                <a:solidFill>
                  <a:srgbClr val="2D3748"/>
                </a:solidFill>
              </a:rPr>
              <a:t>замеры — cam8 (NVR J88212190, HEVC), 7 замеров на каждый тип с интервалом ~12 с, возраст кадра оценён по OSD (часы камеры отстают от реальных на 40 с).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D3748"/>
                </a:solidFill>
              </a:rPr>
              <a:t>•  «Прямо сейчас» — /snapshot: снимок делается по запросу, отставание 0–1 с, но разрешение фиксированное (352×288, ~27 КБ)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D3748"/>
                </a:solidFill>
              </a:rPr>
              <a:t>•  «FullHD без артефактов» — /frame: сам кадр свежий (0–3 с), но ответ занимает 6,5–22,6 с — сервис дожидается чистого I-кадра (GOP-интервал NVR), чтобы картинка не рассыпалась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D3748"/>
                </a:solidFill>
              </a:rPr>
              <a:t>•  «Видео» — /stream.ts: живая задержка ≈ 4 с и стабильная (7/7 замеров в пределах 3,4–4,3 с) — это глубина буфера VTM-релея + GOP; для UI-превью достаточно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D3748"/>
                </a:solidFill>
              </a:rPr>
              <a:t>•  Если нужно меньше задержки по /frame — уменьшить GOP-интервал в настройках кодека NVR (на устройстве, не в сервисе)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D3748"/>
                </a:solidFill>
              </a:rPr>
              <a:t>•  pace (PACE_FRAMES): 1 — плавная картинка (+~1 с буфер), 0 — минимальная задержка (/frame 4 с → ~0.5 с); настраивается одной строкой в .env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3000" b="1">
                <a:solidFill>
                  <a:srgbClr val="2D3748"/>
                </a:solidFill>
              </a:rPr>
              <a:t>Режимы воркеров: WORKER_MODE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647084"/>
                </a:solidFill>
              </a:rPr>
              <a:t>Сколько держать тёплым облачный поток: 24/7 (always) или только при звонке (idle) — .env, без кода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2920" y="1417320"/>
          <a:ext cx="1115568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3931920"/>
                <a:gridCol w="2926080"/>
                <a:gridCol w="2194560"/>
              </a:tblGrid>
              <a:tr h="6705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Режим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Что делает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Трафик с облака (1 камера)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Первый кадр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2D3748"/>
                          </a:solidFill>
                        </a:rPr>
                        <a:t>always (дефолт)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D3748"/>
                          </a:solidFill>
                        </a:rPr>
                        <a:t>Воркер живёт 24/7: фоновая VTM-сессия, /frame и /stream.ts всегда тёплые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D3748"/>
                          </a:solidFill>
                        </a:rPr>
                        <a:t>main ~18 ГБ/день • sub ~1.2 ГБ/день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D3748"/>
                          </a:solidFill>
                        </a:rPr>
                        <a:t>~4 с (pace=1) / ~0.5 с (pace=0)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2D3748"/>
                          </a:solidFill>
                        </a:rPr>
                        <a:t>idle (WORKER_IDLE_TIMEOUT=90)</a:t>
                      </a:r>
                    </a:p>
                  </a:txBody>
                  <a:tcPr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D3748"/>
                          </a:solidFill>
                        </a:rPr>
                        <a:t>Воркер убивается через 90 с без клиентов; разбудить заранее: GET /prime?channel=N</a:t>
                      </a:r>
                    </a:p>
                  </a:txBody>
                  <a:tcPr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D3748"/>
                          </a:solidFill>
                        </a:rPr>
                        <a:t>только вокруг опросов: ≈1.5 ГБ/мес при 2 звонках/день</a:t>
                      </a:r>
                    </a:p>
                  </a:txBody>
                  <a:tcPr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D3748"/>
                          </a:solidFill>
                        </a:rPr>
                        <a:t>холодный 6–8 с; после /prime ~5 с (первый I-кадр)</a:t>
                      </a:r>
                    </a:p>
                  </a:txBody>
                  <a:tcPr>
                    <a:solidFill>
                      <a:srgbClr val="F3F5F9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" y="3657600"/>
            <a:ext cx="111556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2563EB"/>
                </a:solidFill>
              </a:rPr>
              <a:t>Сценарий «звонок в домофон»: WORKER_MODE=idle + PACE_FRAMES=0</a:t>
            </a:r>
          </a:p>
          <a:p>
            <a:pPr>
              <a:spcAft>
                <a:spcPts val="800"/>
              </a:spcAft>
            </a:pPr>
            <a:r>
              <a:rPr sz="1350" b="0">
                <a:solidFill>
                  <a:srgbClr val="2D3748"/>
                </a:solidFill>
              </a:rPr>
              <a:t>               →  GET /frame?channel=8&amp;stream=main    (~5 с первый, 0,2–1 с далее; FullHD JPEG 1920×1080 для распознавания)</a:t>
            </a:r>
          </a:p>
          <a:p>
            <a:pPr>
              <a:spcAft>
                <a:spcPts val="600"/>
              </a:spcAft>
            </a:pPr>
            <a:r>
              <a:rPr sz="1350" b="0">
                <a:solidFill>
                  <a:srgbClr val="647084"/>
                </a:solidFill>
              </a:rPr>
              <a:t>• /prime нужен только в idle: в always воркер и так тёплый (в always он не нужен и не влияет)
• PACE_FRAMES=0 для /frame — минимальная задержка; 1 — для видеосмотрения (плавность)
• всегда: ~550 ГБ/мес трафика (main) против ~1.5 ГБ/мес в idle при редких звонках — выбор режима = выбор цены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28016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7FB2E8"/>
                </a:solidFill>
              </a:defRPr>
            </a:pPr>
            <a:r>
              <a:t>Прагматика (сервис в проде)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700" b="1">
                <a:solidFill>
                  <a:srgbClr val="FFFFFF"/>
                </a:solidFill>
              </a:defRPr>
            </a:pPr>
            <a:r>
              <a:t>Риски и следующие шаги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051560"/>
            <a:ext cx="1463040" cy="4445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53949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1B5EB0"/>
                </a:solidFill>
              </a:rPr>
              <a:t>Стабильность API / облако: весь транспорт unofficial (pyezvizapi/cloud-cam-viewer); Hikvision может поменять протокол — он изолирован за облаком cloudcam/, меняется одним пакетом
Сбои облака: VTM-релей периодически даёт 504 «Rpc invoke exception»; ранее ошибка кэшировалась на 1 ч. Фикс: ошибки не кешируются, ретраи открытия воркера (3×3 с) и честная 502 вместо 500
Задержка: фоновая VTM-сессия в воркере — /frame с 6.5–22 с до ~4 с (pace=1) / ~0.5 с (pace=0); атомарный token (mkstemp), PACE_QUEUE_MB, воркеры умирают с сервисом (parent-watch). 55-запросный багтест: 0 сбоев
Правовой статус: только свои аккаунты/камеры; официальный вариант (Hik-Connect for Teams + API keys) — план 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417320"/>
            <a:ext cx="51206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1B5EB0"/>
                </a:solidFill>
              </a:rPr>
              <a:t>Сделано: сервис в проде — 1 контейнер, Docker Compose, HEVC sub/main, снапшот и тёплый FullHD /frame, токены в volume
15.10: оптимизации A/B/C/D (фоновая VTM-сессия, атомарный token, PACE_QUEUE_MB, parent-watch) + ретраи — 55-запросный багтест 0 сбоев
1. Развертывание: папка hikcloud2rtc/ + docker compose up -d --build (volume: hikcloud2rtc_data)
2. Опционально: go2rtc отдельным контейнером (RTSP/HLS)
3. Мониторинг: алерт по /health, логирование 502/2009
17–18.10: WORKER_MODE always/idle + /prime (прогрев по звонку) + idle-reaper — 0 утечек активных клиентов
Логи: app.log + worker_*.log с ротацией в volume, эндпоинт /logs, docker json-file 10m×1 (единый стандарт по хостам Dockhand)
snapshot: re-login + 1 retry при 401 (токен истекал), обрезка хвоста JPEG после EOI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>
                <a:solidFill>
                  <a:srgbClr val="2D3748"/>
                </a:solidFill>
              </a:rPr>
              <a:t>Долгие тесты: WORKER_MODE × PACE_FRAMES — 4 комбинации под нагрузкой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2920" y="1371600"/>
          <a:ext cx="11155680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234440"/>
                <a:gridCol w="1371600"/>
                <a:gridCol w="1783080"/>
                <a:gridCol w="1371600"/>
                <a:gridCol w="1371600"/>
                <a:gridCol w="2194560"/>
              </a:tblGrid>
              <a:tr h="5943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Комбинация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/frame холодный (1/2)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/frame тёплый (5)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поток sub · 60 с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поток main · 60 с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snapshot (3×)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Reaper (idle) / 24/7 (always)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D3748"/>
                          </a:solidFill>
                        </a:rPr>
                        <a:t>A: always · pace=1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748"/>
                          </a:solidFill>
                        </a:rPr>
                        <a:t>7,7 / 3,2 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748"/>
                          </a:solidFill>
                        </a:rPr>
                        <a:t>4,0 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748"/>
                          </a:solidFill>
                        </a:rPr>
                        <a:t>0.8 МБ / 0.1 Мбит/с 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748"/>
                          </a:solidFill>
                        </a:rPr>
                        <a:t>14.6 МБ / 2.0 Мбит/с 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748"/>
                          </a:solidFill>
                        </a:rPr>
                        <a:t>0,8–1,6 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748"/>
                          </a:solidFill>
                        </a:rPr>
                        <a:t>живёт без клиентов 121+ с 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D3748"/>
                          </a:solidFill>
                        </a:rPr>
                        <a:t>B: always · pace=0</a:t>
                      </a:r>
                    </a:p>
                  </a:txBody>
                  <a:tcPr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748"/>
                          </a:solidFill>
                        </a:rPr>
                        <a:t>6,2 / 0,2 с</a:t>
                      </a:r>
                    </a:p>
                  </a:txBody>
                  <a:tcPr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748"/>
                          </a:solidFill>
                        </a:rPr>
                        <a:t>0,2–1,6 с</a:t>
                      </a:r>
                    </a:p>
                  </a:txBody>
                  <a:tcPr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748"/>
                          </a:solidFill>
                        </a:rPr>
                        <a:t>0.8 МБ / 0.1 Мбит/с ✓</a:t>
                      </a:r>
                    </a:p>
                  </a:txBody>
                  <a:tcPr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748"/>
                          </a:solidFill>
                        </a:rPr>
                        <a:t>14.9 МБ / 2.1 Мбит/с ✓</a:t>
                      </a:r>
                    </a:p>
                  </a:txBody>
                  <a:tcPr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748"/>
                          </a:solidFill>
                        </a:rPr>
                        <a:t>0,8–1,3 с</a:t>
                      </a:r>
                    </a:p>
                  </a:txBody>
                  <a:tcPr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748"/>
                          </a:solidFill>
                        </a:rPr>
                        <a:t>живёт без клиентов 122+ с ✓</a:t>
                      </a:r>
                    </a:p>
                  </a:txBody>
                  <a:tcPr>
                    <a:solidFill>
                      <a:srgbClr val="F3F5F9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D3748"/>
                          </a:solidFill>
                        </a:rPr>
                        <a:t>C: idle · pace=1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748"/>
                          </a:solidFill>
                        </a:rPr>
                        <a:t>6,9 / 3,2 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748"/>
                          </a:solidFill>
                        </a:rPr>
                        <a:t>4,0 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748"/>
                          </a:solidFill>
                        </a:rPr>
                        <a:t>0.8 МБ / 0.1 Мбит/с 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748"/>
                          </a:solidFill>
                        </a:rPr>
                        <a:t>14.6 МБ / 2.0 Мбит/с 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748"/>
                          </a:solidFill>
                        </a:rPr>
                        <a:t>0,8–1,6 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748"/>
                          </a:solidFill>
                        </a:rPr>
                        <a:t>0 воркеров через 105,9 с 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D3748"/>
                          </a:solidFill>
                        </a:rPr>
                        <a:t>D: idle · pace=0</a:t>
                      </a:r>
                    </a:p>
                  </a:txBody>
                  <a:tcPr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748"/>
                          </a:solidFill>
                        </a:rPr>
                        <a:t>6,2 / 0,2 с</a:t>
                      </a:r>
                    </a:p>
                  </a:txBody>
                  <a:tcPr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748"/>
                          </a:solidFill>
                        </a:rPr>
                        <a:t>0,2–1,7 с</a:t>
                      </a:r>
                    </a:p>
                  </a:txBody>
                  <a:tcPr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748"/>
                          </a:solidFill>
                        </a:rPr>
                        <a:t>0.8 МБ / 0.1 Мбит/с ✓</a:t>
                      </a:r>
                    </a:p>
                  </a:txBody>
                  <a:tcPr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748"/>
                          </a:solidFill>
                        </a:rPr>
                        <a:t>14.9 МБ / 2.1 Мбит/с ✓</a:t>
                      </a:r>
                    </a:p>
                  </a:txBody>
                  <a:tcPr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748"/>
                          </a:solidFill>
                        </a:rPr>
                        <a:t>0,7–1,7 с</a:t>
                      </a:r>
                    </a:p>
                  </a:txBody>
                  <a:tcPr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D3748"/>
                          </a:solidFill>
                        </a:rPr>
                        <a:t>0 воркеров через 95,7 с ✓</a:t>
                      </a:r>
                    </a:p>
                  </a:txBody>
                  <a:tcPr>
                    <a:solidFill>
                      <a:srgbClr val="F3F5F9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" y="4526280"/>
            <a:ext cx="1115568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2563EB"/>
                </a:solidFill>
              </a:rPr>
              <a:t>Выводы</a:t>
            </a:r>
          </a:p>
          <a:p>
            <a:r>
              <a:rPr sz="1200"/>
              <a:t>• pace не меняет GOP (~4 с) — он сглаживает доставку: /frame тёплый в pace=0 = 0,2–1,7 с, в pace=1 = ~4,0 с (стабильно по 5 замерам)
• 60-секундные потоки во всех 4 комбинациях — валидный MPEG-TS без обрывов: sub ~0,8 МБ (~0,1 Мбит/с), main ~14,8 МБ (~2,1 Мбит/с, HEVC 1080p)
• reaper честный: в idle воркеры убиваются через ~96–106 с без клиентов (0 в списке), в always живут 120+ с — режим реально переключает цену трафика
• 4 параллельных запроса (frame + stream main + stream sub + snapshot) одновременно во всех 4 комбинациях — 0 сбоев; /prime (триггер звонка): 1,2 с → frame 0,5 с</a:t>
            </a:r>
          </a:p>
          <a:p>
            <a:r>
              <a:rPr sz="1100"/>
              <a:t>cold-кадр: 1-й 6–8 с (подъём воркера), 2-й уже 0,2–3,2 с. Данные — долгий прогон 18.10: на комбинацию рестарт сервиса + frame×7 + потоки sub/main по 60 с + snapshot×3 + reaper + параллельная четвёрка.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